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457200"/>
            <a:ext cx="0" cy="228600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457200"/>
            <a:ext cx="22860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71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711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25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965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9920" y="457200"/>
            <a:ext cx="0" cy="228600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19200"/>
            <a:ext cx="22860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33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73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87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727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41920" y="457200"/>
            <a:ext cx="0" cy="228600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981200"/>
            <a:ext cx="22860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95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2235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9920" y="457200"/>
            <a:ext cx="0" cy="228600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2489200"/>
            <a:ext cx="2286000" cy="0"/>
          </a:xfrm>
          <a:prstGeom prst="line">
            <a:avLst/>
          </a:prstGeom>
          <a:noFill/>
          <a:ln w="6350">
            <a:solidFill>
              <a:srgbClr val="3A4A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57200"/>
            <a:ext cx="0" cy="228600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2743200"/>
            <a:ext cx="22860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466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4560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81064" y="466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43064" y="466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27064" y="720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89064" y="720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243064" y="720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97064" y="720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81064" y="974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9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35064" y="974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05064" y="974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27064" y="1228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4560"/>
                </a:solidFill>
              </a:rPr>
              <a:t>8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43064" y="1228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59064" y="1228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27064" y="1482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89064" y="1482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8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497064" y="1482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59064" y="1482344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AEC0"/>
                </a:solidFill>
              </a:rPr>
              <a:t>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CRT Mini Project  ·  2027 Batch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137160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Sudoku Solver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457200" y="22402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E94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Recursion &amp;</a:t>
            </a:r>
            <a:endParaRPr lang="en-US" sz="3000" dirty="0"/>
          </a:p>
          <a:p>
            <a:pPr algn="l" indent="0" marL="0">
              <a:buNone/>
            </a:pPr>
            <a:r>
              <a:rPr lang="en-US" sz="3000" dirty="0">
                <a:solidFill>
                  <a:srgbClr val="E94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Backtracking</a:t>
            </a:r>
            <a:endParaRPr lang="en-US" sz="3000" dirty="0"/>
          </a:p>
        </p:txBody>
      </p:sp>
      <p:sp>
        <p:nvSpPr>
          <p:cNvPr id="42" name="Shape 40"/>
          <p:cNvSpPr/>
          <p:nvPr/>
        </p:nvSpPr>
        <p:spPr>
          <a:xfrm>
            <a:off x="457200" y="3337560"/>
            <a:ext cx="50292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747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34440" y="3474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194560" y="34747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3474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Backtracking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31920" y="34747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Submitted: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709160" y="3474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Training &amp; Placements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023360" cy="3566160"/>
          </a:xfrm>
          <a:prstGeom prst="roundRect">
            <a:avLst>
              <a:gd name="adj" fmla="val 3077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344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Sudoku?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01168" cy="20116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9×9 grid divided into nine 3×3 sub-grids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201168" cy="20116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filled with digits 1–9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99816"/>
            <a:ext cx="201168" cy="20116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540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complete all empty cells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58184"/>
            <a:ext cx="201168" cy="201168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124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constraint satisfaction puzzle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41605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0600" y="1325880"/>
            <a:ext cx="502920" cy="50292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94960" y="1188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Rule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must contain digits 1–9 without repetition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41605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2514600"/>
            <a:ext cx="502920" cy="50292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2377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Rule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267004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column must contain digits 1–9 without repetition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1605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00600" y="3703320"/>
            <a:ext cx="502920" cy="50292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9496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Rule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94960" y="38587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3×3 sub-grid must contain digits 1–9 without repetition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4572000"/>
            <a:ext cx="8503920" cy="411480"/>
          </a:xfrm>
          <a:prstGeom prst="roundRect">
            <a:avLst>
              <a:gd name="adj" fmla="val 13333"/>
            </a:avLst>
          </a:prstGeom>
          <a:solidFill>
            <a:srgbClr val="E9456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608576"/>
            <a:ext cx="8229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Automatically solve any valid Sudoku puzzle while handling invalid inputs gracefully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/ Approach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1600200" cy="2103120"/>
          </a:xfrm>
          <a:prstGeom prst="roundRect">
            <a:avLst>
              <a:gd name="adj" fmla="val 685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051560"/>
            <a:ext cx="594360" cy="5943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7472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Empty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" y="208483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board for next empty cell (value = 0)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74520" y="1463040"/>
            <a:ext cx="155448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84248" y="13441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4560"/>
                </a:solidFill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29968" y="960120"/>
            <a:ext cx="1600200" cy="2103120"/>
          </a:xfrm>
          <a:prstGeom prst="roundRect">
            <a:avLst>
              <a:gd name="adj" fmla="val 685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32888" y="1051560"/>
            <a:ext cx="594360" cy="5943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13" name="Text 11"/>
          <p:cNvSpPr/>
          <p:nvPr/>
        </p:nvSpPr>
        <p:spPr>
          <a:xfrm>
            <a:off x="2532888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03120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Digits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03120" y="208483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digits 1–9 in the empty cell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30168" y="1463040"/>
            <a:ext cx="155448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9896" y="13441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4560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85616" y="960120"/>
            <a:ext cx="1600200" cy="2103120"/>
          </a:xfrm>
          <a:prstGeom prst="roundRect">
            <a:avLst>
              <a:gd name="adj" fmla="val 685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88536" y="1051560"/>
            <a:ext cx="594360" cy="5943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288536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58768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58768" y="208483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row, column &amp; 3×3 box constraints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85816" y="1463040"/>
            <a:ext cx="155448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95544" y="13441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4560"/>
                </a:solidFill>
              </a:rPr>
              <a:t>›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541264" y="960120"/>
            <a:ext cx="1600200" cy="2103120"/>
          </a:xfrm>
          <a:prstGeom prst="roundRect">
            <a:avLst>
              <a:gd name="adj" fmla="val 685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44184" y="1051560"/>
            <a:ext cx="594360" cy="5943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7" name="Text 25"/>
          <p:cNvSpPr/>
          <p:nvPr/>
        </p:nvSpPr>
        <p:spPr>
          <a:xfrm>
            <a:off x="6044184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614416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14416" y="208483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valid, place digit &amp; recurse deeper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41464" y="1463040"/>
            <a:ext cx="155448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51192" y="13441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4560"/>
                </a:solidFill>
              </a:rPr>
              <a:t>›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296912" y="960120"/>
            <a:ext cx="1600200" cy="2103120"/>
          </a:xfrm>
          <a:prstGeom prst="roundRect">
            <a:avLst>
              <a:gd name="adj" fmla="val 6857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99832" y="1051560"/>
            <a:ext cx="594360" cy="5943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4" name="Text 32"/>
          <p:cNvSpPr/>
          <p:nvPr/>
        </p:nvSpPr>
        <p:spPr>
          <a:xfrm>
            <a:off x="7799832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70064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Backtrack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70064" y="208483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stuck, reset cell to 0 &amp; try next digit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Analysis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5029200" cy="1188720"/>
        </p:xfrm>
        <a:graphic>
          <a:graphicData uri="http://schemas.openxmlformats.org/drawingml/2006/table">
            <a:tbl>
              <a:tblPr/>
              <a:tblGrid>
                <a:gridCol w="1676400"/>
                <a:gridCol w="1676400"/>
                <a:gridCol w="1676400"/>
              </a:tblGrid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456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O(9ⁿ)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empty cells; worst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 call stack depth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Puzzle already mostly filled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566928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Functions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577840" y="3657600"/>
            <a:ext cx="3383280" cy="246888"/>
          </a:xfrm>
          <a:prstGeom prst="roundRect">
            <a:avLst>
              <a:gd name="adj" fmla="val 18519"/>
            </a:avLst>
          </a:prstGeom>
          <a:solidFill>
            <a:srgbClr val="0F3460"/>
          </a:solidFill>
          <a:ln/>
        </p:spPr>
      </p:sp>
      <p:sp>
        <p:nvSpPr>
          <p:cNvPr id="41" name="Text 38"/>
          <p:cNvSpPr/>
          <p:nvPr/>
        </p:nvSpPr>
        <p:spPr>
          <a:xfrm>
            <a:off x="5669280" y="3685032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is_safe()  — Validates placement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577840" y="3950208"/>
            <a:ext cx="3383280" cy="246888"/>
          </a:xfrm>
          <a:prstGeom prst="roundRect">
            <a:avLst>
              <a:gd name="adj" fmla="val 18519"/>
            </a:avLst>
          </a:prstGeom>
          <a:solidFill>
            <a:srgbClr val="0F3460"/>
          </a:solidFill>
          <a:ln/>
        </p:spPr>
      </p:sp>
      <p:sp>
        <p:nvSpPr>
          <p:cNvPr id="43" name="Text 40"/>
          <p:cNvSpPr/>
          <p:nvPr/>
        </p:nvSpPr>
        <p:spPr>
          <a:xfrm>
            <a:off x="5669280" y="3977640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solve()  — Recursive backtracker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577840" y="4242816"/>
            <a:ext cx="3383280" cy="246888"/>
          </a:xfrm>
          <a:prstGeom prst="roundRect">
            <a:avLst>
              <a:gd name="adj" fmla="val 18519"/>
            </a:avLst>
          </a:prstGeom>
          <a:solidFill>
            <a:srgbClr val="0F3460"/>
          </a:solidFill>
          <a:ln/>
        </p:spPr>
      </p:sp>
      <p:sp>
        <p:nvSpPr>
          <p:cNvPr id="45" name="Text 42"/>
          <p:cNvSpPr/>
          <p:nvPr/>
        </p:nvSpPr>
        <p:spPr>
          <a:xfrm>
            <a:off x="5669280" y="4270248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print_board()  — Formatted output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5577840" y="4535424"/>
            <a:ext cx="3383280" cy="246888"/>
          </a:xfrm>
          <a:prstGeom prst="roundRect">
            <a:avLst>
              <a:gd name="adj" fmla="val 18519"/>
            </a:avLst>
          </a:prstGeom>
          <a:solidFill>
            <a:srgbClr val="0F3460"/>
          </a:solidFill>
          <a:ln/>
        </p:spPr>
      </p:sp>
      <p:sp>
        <p:nvSpPr>
          <p:cNvPr id="47" name="Text 44"/>
          <p:cNvSpPr/>
          <p:nvPr/>
        </p:nvSpPr>
        <p:spPr>
          <a:xfrm>
            <a:off x="5669280" y="4562856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get_user_input()  — Input &amp; validate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/ Outcome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3136392" cy="3136392"/>
          </a:xfrm>
          <a:prstGeom prst="roundRect">
            <a:avLst>
              <a:gd name="adj" fmla="val 2332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04088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2416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0744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19072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57400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5728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34056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72384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2416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0744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0744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719072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19072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57400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395728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34056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2384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4088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42416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416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380744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719072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57400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95728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34056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34056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72384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4088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2416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80744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19072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719072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057400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95728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734056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2384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72384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04088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42416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380744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380744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1719072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057400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57400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395728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34056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72384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072384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65760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5760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704088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42416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80744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719072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057400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395728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34056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2384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072384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365760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04088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04088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1042416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380744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719072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057400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395728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395728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2734056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34056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3072384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65760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04088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416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380744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380744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1719072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057400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057400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2395728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734056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072384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072384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365760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04088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42416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380744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719072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719072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057400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395728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734056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734056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072384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072384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365760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65760" y="1097280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380744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65760" y="2112264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395728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65760" y="3127248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410712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65760" y="4142232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65760" y="42062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Board</a:t>
            </a:r>
            <a:endParaRPr lang="en-US" sz="1400" dirty="0"/>
          </a:p>
        </p:txBody>
      </p:sp>
      <p:sp>
        <p:nvSpPr>
          <p:cNvPr id="125" name="Text 123"/>
          <p:cNvSpPr/>
          <p:nvPr/>
        </p:nvSpPr>
        <p:spPr>
          <a:xfrm>
            <a:off x="356616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E94560"/>
                </a:solidFill>
              </a:rPr>
              <a:t>→</a:t>
            </a:r>
            <a:endParaRPr lang="en-US" sz="3600" dirty="0"/>
          </a:p>
        </p:txBody>
      </p:sp>
      <p:sp>
        <p:nvSpPr>
          <p:cNvPr id="126" name="Text 124"/>
          <p:cNvSpPr/>
          <p:nvPr/>
        </p:nvSpPr>
        <p:spPr>
          <a:xfrm>
            <a:off x="3493008" y="29260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Solved!</a:t>
            </a:r>
            <a:endParaRPr lang="en-US" sz="1100" dirty="0"/>
          </a:p>
        </p:txBody>
      </p:sp>
      <p:sp>
        <p:nvSpPr>
          <p:cNvPr id="127" name="Shape 125"/>
          <p:cNvSpPr/>
          <p:nvPr/>
        </p:nvSpPr>
        <p:spPr>
          <a:xfrm>
            <a:off x="4251960" y="1051560"/>
            <a:ext cx="3136392" cy="3136392"/>
          </a:xfrm>
          <a:prstGeom prst="roundRect">
            <a:avLst>
              <a:gd name="adj" fmla="val 2332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128" name="Shape 126"/>
          <p:cNvSpPr/>
          <p:nvPr/>
        </p:nvSpPr>
        <p:spPr>
          <a:xfrm>
            <a:off x="4297680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297680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4636008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636008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4974336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974336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5312664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312664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6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5650992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650992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5989320" y="109728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989320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8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6327648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327648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9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6665976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6665976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144" name="Shape 142"/>
          <p:cNvSpPr/>
          <p:nvPr/>
        </p:nvSpPr>
        <p:spPr>
          <a:xfrm>
            <a:off x="7004304" y="109728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7004304" y="109728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4297680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297680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4636008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636008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150" name="Shape 148"/>
          <p:cNvSpPr/>
          <p:nvPr/>
        </p:nvSpPr>
        <p:spPr>
          <a:xfrm>
            <a:off x="4974336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974336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5312664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5312664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54" name="Shape 152"/>
          <p:cNvSpPr/>
          <p:nvPr/>
        </p:nvSpPr>
        <p:spPr>
          <a:xfrm>
            <a:off x="5650992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650992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5989320" y="143560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989320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6327648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327648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6665976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665976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7004304" y="143560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04304" y="14356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8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4297680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97680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4636008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36008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4974336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974336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5312664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312664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5650992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5650992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174" name="Shape 172"/>
          <p:cNvSpPr/>
          <p:nvPr/>
        </p:nvSpPr>
        <p:spPr>
          <a:xfrm>
            <a:off x="5989320" y="177393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5989320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6327648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6327648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6665976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6665976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7004304" y="177393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7004304" y="177393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4297680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429768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4636008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4636008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186" name="Shape 184"/>
          <p:cNvSpPr/>
          <p:nvPr/>
        </p:nvSpPr>
        <p:spPr>
          <a:xfrm>
            <a:off x="4974336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4974336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9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5312664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5312664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5650992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650992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2" name="Shape 190"/>
          <p:cNvSpPr/>
          <p:nvPr/>
        </p:nvSpPr>
        <p:spPr>
          <a:xfrm>
            <a:off x="5989320" y="211226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598932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6327648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6327648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6665976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198" name="Shape 196"/>
          <p:cNvSpPr/>
          <p:nvPr/>
        </p:nvSpPr>
        <p:spPr>
          <a:xfrm>
            <a:off x="7004304" y="211226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004304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4297680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297680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4636008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636008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204" name="Shape 202"/>
          <p:cNvSpPr/>
          <p:nvPr/>
        </p:nvSpPr>
        <p:spPr>
          <a:xfrm>
            <a:off x="4974336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974336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6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5312664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5312664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5650992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5650992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210" name="Shape 208"/>
          <p:cNvSpPr/>
          <p:nvPr/>
        </p:nvSpPr>
        <p:spPr>
          <a:xfrm>
            <a:off x="5989320" y="2450592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5989320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12" name="Shape 210"/>
          <p:cNvSpPr/>
          <p:nvPr/>
        </p:nvSpPr>
        <p:spPr>
          <a:xfrm>
            <a:off x="6327648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6327648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214" name="Shape 212"/>
          <p:cNvSpPr/>
          <p:nvPr/>
        </p:nvSpPr>
        <p:spPr>
          <a:xfrm>
            <a:off x="6665976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6665976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9</a:t>
            </a:r>
            <a:endParaRPr lang="en-US" sz="1200" dirty="0"/>
          </a:p>
        </p:txBody>
      </p:sp>
      <p:sp>
        <p:nvSpPr>
          <p:cNvPr id="216" name="Shape 214"/>
          <p:cNvSpPr/>
          <p:nvPr/>
        </p:nvSpPr>
        <p:spPr>
          <a:xfrm>
            <a:off x="7004304" y="2450592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004304" y="2450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8" name="Shape 216"/>
          <p:cNvSpPr/>
          <p:nvPr/>
        </p:nvSpPr>
        <p:spPr>
          <a:xfrm>
            <a:off x="4297680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4297680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220" name="Shape 218"/>
          <p:cNvSpPr/>
          <p:nvPr/>
        </p:nvSpPr>
        <p:spPr>
          <a:xfrm>
            <a:off x="4636008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4636008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222" name="Shape 220"/>
          <p:cNvSpPr/>
          <p:nvPr/>
        </p:nvSpPr>
        <p:spPr>
          <a:xfrm>
            <a:off x="4974336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4974336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224" name="Shape 222"/>
          <p:cNvSpPr/>
          <p:nvPr/>
        </p:nvSpPr>
        <p:spPr>
          <a:xfrm>
            <a:off x="5312664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5312664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9</a:t>
            </a:r>
            <a:endParaRPr lang="en-US" sz="1200" dirty="0"/>
          </a:p>
        </p:txBody>
      </p:sp>
      <p:sp>
        <p:nvSpPr>
          <p:cNvPr id="226" name="Shape 224"/>
          <p:cNvSpPr/>
          <p:nvPr/>
        </p:nvSpPr>
        <p:spPr>
          <a:xfrm>
            <a:off x="5650992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5650992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8" name="Shape 226"/>
          <p:cNvSpPr/>
          <p:nvPr/>
        </p:nvSpPr>
        <p:spPr>
          <a:xfrm>
            <a:off x="5989320" y="2788920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5989320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230" name="Shape 228"/>
          <p:cNvSpPr/>
          <p:nvPr/>
        </p:nvSpPr>
        <p:spPr>
          <a:xfrm>
            <a:off x="6327648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6327648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8</a:t>
            </a:r>
            <a:endParaRPr lang="en-US" sz="1200" dirty="0"/>
          </a:p>
        </p:txBody>
      </p:sp>
      <p:sp>
        <p:nvSpPr>
          <p:cNvPr id="232" name="Shape 230"/>
          <p:cNvSpPr/>
          <p:nvPr/>
        </p:nvSpPr>
        <p:spPr>
          <a:xfrm>
            <a:off x="6665976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6665976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234" name="Shape 232"/>
          <p:cNvSpPr/>
          <p:nvPr/>
        </p:nvSpPr>
        <p:spPr>
          <a:xfrm>
            <a:off x="7004304" y="2788920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7004304" y="2788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36" name="Shape 234"/>
          <p:cNvSpPr/>
          <p:nvPr/>
        </p:nvSpPr>
        <p:spPr>
          <a:xfrm>
            <a:off x="4297680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4297680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9</a:t>
            </a:r>
            <a:endParaRPr lang="en-US" sz="1200" dirty="0"/>
          </a:p>
        </p:txBody>
      </p:sp>
      <p:sp>
        <p:nvSpPr>
          <p:cNvPr id="238" name="Shape 236"/>
          <p:cNvSpPr/>
          <p:nvPr/>
        </p:nvSpPr>
        <p:spPr>
          <a:xfrm>
            <a:off x="4636008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4636008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0" name="Shape 238"/>
          <p:cNvSpPr/>
          <p:nvPr/>
        </p:nvSpPr>
        <p:spPr>
          <a:xfrm>
            <a:off x="4974336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974336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242" name="Shape 240"/>
          <p:cNvSpPr/>
          <p:nvPr/>
        </p:nvSpPr>
        <p:spPr>
          <a:xfrm>
            <a:off x="5312664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312664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244" name="Shape 242"/>
          <p:cNvSpPr/>
          <p:nvPr/>
        </p:nvSpPr>
        <p:spPr>
          <a:xfrm>
            <a:off x="5650992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5650992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246" name="Shape 244"/>
          <p:cNvSpPr/>
          <p:nvPr/>
        </p:nvSpPr>
        <p:spPr>
          <a:xfrm>
            <a:off x="5989320" y="3127248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5989320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248" name="Shape 246"/>
          <p:cNvSpPr/>
          <p:nvPr/>
        </p:nvSpPr>
        <p:spPr>
          <a:xfrm>
            <a:off x="6327648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6327648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0" name="Shape 248"/>
          <p:cNvSpPr/>
          <p:nvPr/>
        </p:nvSpPr>
        <p:spPr>
          <a:xfrm>
            <a:off x="6665976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6665976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252" name="Shape 250"/>
          <p:cNvSpPr/>
          <p:nvPr/>
        </p:nvSpPr>
        <p:spPr>
          <a:xfrm>
            <a:off x="7004304" y="3127248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7004304" y="31272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254" name="Shape 252"/>
          <p:cNvSpPr/>
          <p:nvPr/>
        </p:nvSpPr>
        <p:spPr>
          <a:xfrm>
            <a:off x="4297680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4297680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256" name="Shape 254"/>
          <p:cNvSpPr/>
          <p:nvPr/>
        </p:nvSpPr>
        <p:spPr>
          <a:xfrm>
            <a:off x="4636008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4636008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8</a:t>
            </a:r>
            <a:endParaRPr lang="en-US" sz="1200" dirty="0"/>
          </a:p>
        </p:txBody>
      </p:sp>
      <p:sp>
        <p:nvSpPr>
          <p:cNvPr id="258" name="Shape 256"/>
          <p:cNvSpPr/>
          <p:nvPr/>
        </p:nvSpPr>
        <p:spPr>
          <a:xfrm>
            <a:off x="4974336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4974336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7</a:t>
            </a:r>
            <a:endParaRPr lang="en-US" sz="1200" dirty="0"/>
          </a:p>
        </p:txBody>
      </p:sp>
      <p:sp>
        <p:nvSpPr>
          <p:cNvPr id="260" name="Shape 258"/>
          <p:cNvSpPr/>
          <p:nvPr/>
        </p:nvSpPr>
        <p:spPr>
          <a:xfrm>
            <a:off x="5312664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5312664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2" name="Shape 260"/>
          <p:cNvSpPr/>
          <p:nvPr/>
        </p:nvSpPr>
        <p:spPr>
          <a:xfrm>
            <a:off x="5650992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5650992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64" name="Shape 262"/>
          <p:cNvSpPr/>
          <p:nvPr/>
        </p:nvSpPr>
        <p:spPr>
          <a:xfrm>
            <a:off x="5989320" y="3465576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5989320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266" name="Shape 264"/>
          <p:cNvSpPr/>
          <p:nvPr/>
        </p:nvSpPr>
        <p:spPr>
          <a:xfrm>
            <a:off x="6327648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6327648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6</a:t>
            </a:r>
            <a:endParaRPr lang="en-US" sz="1200" dirty="0"/>
          </a:p>
        </p:txBody>
      </p:sp>
      <p:sp>
        <p:nvSpPr>
          <p:cNvPr id="268" name="Shape 266"/>
          <p:cNvSpPr/>
          <p:nvPr/>
        </p:nvSpPr>
        <p:spPr>
          <a:xfrm>
            <a:off x="6665976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6665976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270" name="Shape 268"/>
          <p:cNvSpPr/>
          <p:nvPr/>
        </p:nvSpPr>
        <p:spPr>
          <a:xfrm>
            <a:off x="7004304" y="3465576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7004304" y="346557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72" name="Shape 270"/>
          <p:cNvSpPr/>
          <p:nvPr/>
        </p:nvSpPr>
        <p:spPr>
          <a:xfrm>
            <a:off x="4297680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297680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3</a:t>
            </a:r>
            <a:endParaRPr lang="en-US" sz="1200" dirty="0"/>
          </a:p>
        </p:txBody>
      </p:sp>
      <p:sp>
        <p:nvSpPr>
          <p:cNvPr id="274" name="Shape 272"/>
          <p:cNvSpPr/>
          <p:nvPr/>
        </p:nvSpPr>
        <p:spPr>
          <a:xfrm>
            <a:off x="4636008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4636008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4</a:t>
            </a:r>
            <a:endParaRPr lang="en-US" sz="1200" dirty="0"/>
          </a:p>
        </p:txBody>
      </p:sp>
      <p:sp>
        <p:nvSpPr>
          <p:cNvPr id="276" name="Shape 274"/>
          <p:cNvSpPr/>
          <p:nvPr/>
        </p:nvSpPr>
        <p:spPr>
          <a:xfrm>
            <a:off x="4974336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4974336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5</a:t>
            </a:r>
            <a:endParaRPr lang="en-US" sz="1200" dirty="0"/>
          </a:p>
        </p:txBody>
      </p:sp>
      <p:sp>
        <p:nvSpPr>
          <p:cNvPr id="278" name="Shape 276"/>
          <p:cNvSpPr/>
          <p:nvPr/>
        </p:nvSpPr>
        <p:spPr>
          <a:xfrm>
            <a:off x="5312664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5312664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2</a:t>
            </a:r>
            <a:endParaRPr lang="en-US" sz="1200" dirty="0"/>
          </a:p>
        </p:txBody>
      </p:sp>
      <p:sp>
        <p:nvSpPr>
          <p:cNvPr id="280" name="Shape 278"/>
          <p:cNvSpPr/>
          <p:nvPr/>
        </p:nvSpPr>
        <p:spPr>
          <a:xfrm>
            <a:off x="5650992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5650992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282" name="Shape 280"/>
          <p:cNvSpPr/>
          <p:nvPr/>
        </p:nvSpPr>
        <p:spPr>
          <a:xfrm>
            <a:off x="5989320" y="3803904"/>
            <a:ext cx="338328" cy="338328"/>
          </a:xfrm>
          <a:prstGeom prst="rect">
            <a:avLst/>
          </a:prstGeom>
          <a:solidFill>
            <a:srgbClr val="162038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5989320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6</a:t>
            </a:r>
            <a:endParaRPr lang="en-US" sz="1200" dirty="0"/>
          </a:p>
        </p:txBody>
      </p:sp>
      <p:sp>
        <p:nvSpPr>
          <p:cNvPr id="284" name="Shape 282"/>
          <p:cNvSpPr/>
          <p:nvPr/>
        </p:nvSpPr>
        <p:spPr>
          <a:xfrm>
            <a:off x="6327648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6327648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</a:rPr>
              <a:t>1</a:t>
            </a:r>
            <a:endParaRPr lang="en-US" sz="1200" dirty="0"/>
          </a:p>
        </p:txBody>
      </p:sp>
      <p:sp>
        <p:nvSpPr>
          <p:cNvPr id="286" name="Shape 284"/>
          <p:cNvSpPr/>
          <p:nvPr/>
        </p:nvSpPr>
        <p:spPr>
          <a:xfrm>
            <a:off x="6665976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7" name="Text 285"/>
          <p:cNvSpPr/>
          <p:nvPr/>
        </p:nvSpPr>
        <p:spPr>
          <a:xfrm>
            <a:off x="6665976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288" name="Shape 286"/>
          <p:cNvSpPr/>
          <p:nvPr/>
        </p:nvSpPr>
        <p:spPr>
          <a:xfrm>
            <a:off x="7004304" y="3803904"/>
            <a:ext cx="338328" cy="338328"/>
          </a:xfrm>
          <a:prstGeom prst="rect">
            <a:avLst/>
          </a:prstGeom>
          <a:solidFill>
            <a:srgbClr val="1A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9" name="Text 287"/>
          <p:cNvSpPr/>
          <p:nvPr/>
        </p:nvSpPr>
        <p:spPr>
          <a:xfrm>
            <a:off x="7004304" y="38039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290" name="Shape 288"/>
          <p:cNvSpPr/>
          <p:nvPr/>
        </p:nvSpPr>
        <p:spPr>
          <a:xfrm>
            <a:off x="4297680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4297680" y="1097280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5312664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4297680" y="2112264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6327648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297680" y="3127248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7342632" y="1097280"/>
            <a:ext cx="0" cy="3044952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297680" y="4142232"/>
            <a:ext cx="3044952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4297680" y="42062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Solved Board  (green = filled)</a:t>
            </a:r>
            <a:endParaRPr lang="en-US" sz="1400" dirty="0"/>
          </a:p>
        </p:txBody>
      </p:sp>
      <p:sp>
        <p:nvSpPr>
          <p:cNvPr id="299" name="Shape 297"/>
          <p:cNvSpPr/>
          <p:nvPr/>
        </p:nvSpPr>
        <p:spPr>
          <a:xfrm>
            <a:off x="274320" y="4480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300" name="Text 298"/>
          <p:cNvSpPr/>
          <p:nvPr/>
        </p:nvSpPr>
        <p:spPr>
          <a:xfrm>
            <a:off x="320040" y="45079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User Input</a:t>
            </a:r>
            <a:endParaRPr lang="en-US" sz="1100" dirty="0"/>
          </a:p>
        </p:txBody>
      </p:sp>
      <p:sp>
        <p:nvSpPr>
          <p:cNvPr id="301" name="Shape 299"/>
          <p:cNvSpPr/>
          <p:nvPr/>
        </p:nvSpPr>
        <p:spPr>
          <a:xfrm>
            <a:off x="2450592" y="4480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302" name="Text 300"/>
          <p:cNvSpPr/>
          <p:nvPr/>
        </p:nvSpPr>
        <p:spPr>
          <a:xfrm>
            <a:off x="2496312" y="45079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Validation</a:t>
            </a:r>
            <a:endParaRPr lang="en-US" sz="1100" dirty="0"/>
          </a:p>
        </p:txBody>
      </p:sp>
      <p:sp>
        <p:nvSpPr>
          <p:cNvPr id="303" name="Shape 301"/>
          <p:cNvSpPr/>
          <p:nvPr/>
        </p:nvSpPr>
        <p:spPr>
          <a:xfrm>
            <a:off x="4626864" y="4480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304" name="Text 302"/>
          <p:cNvSpPr/>
          <p:nvPr/>
        </p:nvSpPr>
        <p:spPr>
          <a:xfrm>
            <a:off x="4672584" y="45079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No-Solution Handling</a:t>
            </a:r>
            <a:endParaRPr lang="en-US" sz="1100" dirty="0"/>
          </a:p>
        </p:txBody>
      </p:sp>
      <p:sp>
        <p:nvSpPr>
          <p:cNvPr id="305" name="Shape 303"/>
          <p:cNvSpPr/>
          <p:nvPr/>
        </p:nvSpPr>
        <p:spPr>
          <a:xfrm>
            <a:off x="6803136" y="4480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sp>
        <p:nvSpPr>
          <p:cNvPr id="306" name="Text 304"/>
          <p:cNvSpPr/>
          <p:nvPr/>
        </p:nvSpPr>
        <p:spPr>
          <a:xfrm>
            <a:off x="6848856" y="45079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Clean Display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254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2743200" cy="2926080"/>
          </a:xfrm>
          <a:prstGeom prst="roundRect">
            <a:avLst>
              <a:gd name="adj" fmla="val 4000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14300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874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Mastery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3317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effective use of Backtracking and Recursion to solve a real-world constraint satisfaction problem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46120" y="1005840"/>
            <a:ext cx="2743200" cy="2926080"/>
          </a:xfrm>
          <a:prstGeom prst="roundRect">
            <a:avLst>
              <a:gd name="adj" fmla="val 4000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143000"/>
            <a:ext cx="594360" cy="594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83280" y="1874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Proficiency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383280" y="23317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well-commented Python code with modular functions, input validation, and graceful error handling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72200" y="1005840"/>
            <a:ext cx="2743200" cy="2926080"/>
          </a:xfrm>
          <a:prstGeom prst="roundRect">
            <a:avLst>
              <a:gd name="adj" fmla="val 4000"/>
            </a:avLst>
          </a:prstGeom>
          <a:solidFill>
            <a:srgbClr val="0F3460"/>
          </a:solidFill>
          <a:ln/>
          <a:effectLst>
            <a:outerShdw sx="100000" sy="100000" kx="0" ky="0" algn="bl" rotWithShape="0" blurRad="152400" dist="50800" dir="2700000">
              <a:srgbClr val="000000">
                <a:alpha val="25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14300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1874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309360" y="23317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 interactive solver — any valid 9×9 Sudoku puzzle is accepted and solved automatically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365760" y="42793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CLRS (Algorithms) · Python Docs · GeeksforGeeks · Wikipedia (Sudoku algorithms)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Training &amp; Placements  ·  CRT Mini Project  ·  2027 Batch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Sudoku Solver using Recursion &amp; Backtracking</dc:title>
  <dc:subject>PptxGenJS Presentation</dc:subject>
  <dc:creator>PptxGenJS</dc:creator>
  <cp:lastModifiedBy>PptxGenJS</cp:lastModifiedBy>
  <cp:revision>1</cp:revision>
  <dcterms:created xsi:type="dcterms:W3CDTF">2026-06-16T08:47:49Z</dcterms:created>
  <dcterms:modified xsi:type="dcterms:W3CDTF">2026-06-16T08:47:49Z</dcterms:modified>
</cp:coreProperties>
</file>