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457200"/>
            <a:ext cx="0" cy="228600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457200"/>
            <a:ext cx="22860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1920" y="457200"/>
            <a:ext cx="0" cy="228600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711200"/>
            <a:ext cx="2286000" cy="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5920" y="457200"/>
            <a:ext cx="0" cy="228600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965200"/>
            <a:ext cx="2286000" cy="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79920" y="457200"/>
            <a:ext cx="0" cy="228600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19200"/>
            <a:ext cx="22860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33920" y="457200"/>
            <a:ext cx="0" cy="228600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473200"/>
            <a:ext cx="2286000" cy="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87920" y="457200"/>
            <a:ext cx="0" cy="228600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27200"/>
            <a:ext cx="2286000" cy="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41920" y="457200"/>
            <a:ext cx="0" cy="228600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81200"/>
            <a:ext cx="22860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5920" y="457200"/>
            <a:ext cx="0" cy="228600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235200"/>
            <a:ext cx="2286000" cy="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9920" y="457200"/>
            <a:ext cx="0" cy="228600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489200"/>
            <a:ext cx="2286000" cy="0"/>
          </a:xfrm>
          <a:prstGeom prst="line">
            <a:avLst/>
          </a:prstGeom>
          <a:noFill/>
          <a:ln w="6350">
            <a:solidFill>
              <a:srgbClr val="3A4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57200"/>
            <a:ext cx="0" cy="228600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22860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466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4560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1064" y="466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43064" y="466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27064" y="720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89064" y="720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43064" y="720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</a:rPr>
              <a:t>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7064" y="720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81064" y="974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</a:rPr>
              <a:t>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35064" y="974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</a:rPr>
              <a:t>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05064" y="974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27064" y="1228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4560"/>
                </a:solidFill>
              </a:rPr>
              <a:t>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43064" y="1228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59064" y="1228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27064" y="1482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89064" y="1482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7064" y="1482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59064" y="1482344"/>
            <a:ext cx="25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AEC0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10058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CRT Mini Project  ·  2027 Batch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1371600"/>
            <a:ext cx="54864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Sudoku Solver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457200" y="2240280"/>
            <a:ext cx="5486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945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Recursion &amp;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E945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Backtracking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457200" y="3337560"/>
            <a:ext cx="50292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47472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34440" y="347472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94560" y="347472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71800" y="347472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Backtracking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931920" y="347472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09160" y="347472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Artificial Intelligence &amp;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9456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Sudoku?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7" name="Text 5"/>
          <p:cNvSpPr/>
          <p:nvPr/>
        </p:nvSpPr>
        <p:spPr>
          <a:xfrm>
            <a:off x="822960" y="17373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9×9 grid divided into nine 3×3 sub-grids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201168" cy="201168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9" name="Text 7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Partially filled with digits 1–9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201168" cy="201168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11" name="Text 9"/>
          <p:cNvSpPr/>
          <p:nvPr/>
        </p:nvSpPr>
        <p:spPr>
          <a:xfrm>
            <a:off x="822960" y="3054096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complete all empty cells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201168" cy="201168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13" name="Text 11"/>
          <p:cNvSpPr/>
          <p:nvPr/>
        </p:nvSpPr>
        <p:spPr>
          <a:xfrm>
            <a:off x="822960" y="371246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 constraint satisfaction puzzle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25880"/>
            <a:ext cx="502920" cy="50292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16" name="Text 14"/>
          <p:cNvSpPr/>
          <p:nvPr/>
        </p:nvSpPr>
        <p:spPr>
          <a:xfrm>
            <a:off x="4800600" y="13258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11887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Rule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48132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row must contain digits 1–9 without repetition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514600"/>
            <a:ext cx="502920" cy="50292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21" name="Text 19"/>
          <p:cNvSpPr/>
          <p:nvPr/>
        </p:nvSpPr>
        <p:spPr>
          <a:xfrm>
            <a:off x="4800600" y="2514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 Rule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67004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column must contain digits 1–9 without repetition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1605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03320"/>
            <a:ext cx="502920" cy="50292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26" name="Text 24"/>
          <p:cNvSpPr/>
          <p:nvPr/>
        </p:nvSpPr>
        <p:spPr>
          <a:xfrm>
            <a:off x="4800600" y="3703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5661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 Rule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858768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3×3 sub-grid must contain digits 1–9 without repetition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E94560"/>
          </a:solidFill>
        </p:spPr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/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51560"/>
            <a:ext cx="594360" cy="59436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6" name="Text 4"/>
          <p:cNvSpPr/>
          <p:nvPr/>
        </p:nvSpPr>
        <p:spPr>
          <a:xfrm>
            <a:off x="777240" y="10515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17373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Empty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084832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board for next empty cell (value = 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1463040"/>
            <a:ext cx="155448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134416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29968" y="96012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051560"/>
            <a:ext cx="594360" cy="59436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13" name="Text 11"/>
          <p:cNvSpPr/>
          <p:nvPr/>
        </p:nvSpPr>
        <p:spPr>
          <a:xfrm>
            <a:off x="2532888" y="10515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17373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Digits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084832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Attempt digits 1–9 in the empty cell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30168" y="1463040"/>
            <a:ext cx="155448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134416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85616" y="96012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88536" y="1051560"/>
            <a:ext cx="594360" cy="59436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20" name="Text 18"/>
          <p:cNvSpPr/>
          <p:nvPr/>
        </p:nvSpPr>
        <p:spPr>
          <a:xfrm>
            <a:off x="4288536" y="10515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58768" y="17373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58768" y="2084832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row, column &amp; 3×3 box constraints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85816" y="1463040"/>
            <a:ext cx="155448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95544" y="134416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541264" y="96012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44184" y="1051560"/>
            <a:ext cx="594360" cy="59436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27" name="Text 25"/>
          <p:cNvSpPr/>
          <p:nvPr/>
        </p:nvSpPr>
        <p:spPr>
          <a:xfrm>
            <a:off x="6044184" y="10515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14416" y="17373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14416" y="2084832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valid, place digit &amp; recurse deeper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41464" y="1463040"/>
            <a:ext cx="155448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51192" y="1344168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4560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96912" y="96012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99832" y="1051560"/>
            <a:ext cx="594360" cy="594360"/>
          </a:xfrm>
          <a:prstGeom prst="ellipse">
            <a:avLst/>
          </a:prstGeom>
          <a:solidFill>
            <a:srgbClr val="E94560"/>
          </a:solidFill>
        </p:spPr>
      </p:sp>
      <p:sp>
        <p:nvSpPr>
          <p:cNvPr id="34" name="Text 32"/>
          <p:cNvSpPr/>
          <p:nvPr/>
        </p:nvSpPr>
        <p:spPr>
          <a:xfrm>
            <a:off x="7799832" y="10515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70064" y="173736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Backtrack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70064" y="2084832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stuck, reset cell to 0 &amp; try next digit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Complexity Analysis</a:t>
            </a:r>
            <a:endParaRPr lang="en-US" sz="1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365760" y="3657600"/>
          <a:ext cx="5029200" cy="118872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Complexity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Explanation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O(9ⁿ)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 = empty cells; worst case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Space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O(n²)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Recursive call stack depth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Case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O(n)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Puzzle already mostly filled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5669280" y="32461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Functions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577840" y="3657600"/>
            <a:ext cx="3383280" cy="246888"/>
          </a:xfrm>
          <a:prstGeom prst="roundRect">
            <a:avLst>
              <a:gd name="adj" fmla="val 18519"/>
            </a:avLst>
          </a:prstGeom>
          <a:solidFill>
            <a:srgbClr val="0F3460"/>
          </a:solidFill>
        </p:spPr>
      </p:sp>
      <p:sp>
        <p:nvSpPr>
          <p:cNvPr id="41" name="Text 38"/>
          <p:cNvSpPr/>
          <p:nvPr/>
        </p:nvSpPr>
        <p:spPr>
          <a:xfrm>
            <a:off x="5669280" y="3685032"/>
            <a:ext cx="3200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is_safe()  — Validates placement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577840" y="3950208"/>
            <a:ext cx="3383280" cy="246888"/>
          </a:xfrm>
          <a:prstGeom prst="roundRect">
            <a:avLst>
              <a:gd name="adj" fmla="val 18519"/>
            </a:avLst>
          </a:prstGeom>
          <a:solidFill>
            <a:srgbClr val="0F3460"/>
          </a:solidFill>
        </p:spPr>
      </p:sp>
      <p:sp>
        <p:nvSpPr>
          <p:cNvPr id="43" name="Text 40"/>
          <p:cNvSpPr/>
          <p:nvPr/>
        </p:nvSpPr>
        <p:spPr>
          <a:xfrm>
            <a:off x="5669280" y="3977640"/>
            <a:ext cx="3200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solve()  — Recursive backtracker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577840" y="4242816"/>
            <a:ext cx="3383280" cy="246888"/>
          </a:xfrm>
          <a:prstGeom prst="roundRect">
            <a:avLst>
              <a:gd name="adj" fmla="val 18519"/>
            </a:avLst>
          </a:prstGeom>
          <a:solidFill>
            <a:srgbClr val="0F3460"/>
          </a:solidFill>
        </p:spPr>
      </p:sp>
      <p:sp>
        <p:nvSpPr>
          <p:cNvPr id="45" name="Text 42"/>
          <p:cNvSpPr/>
          <p:nvPr/>
        </p:nvSpPr>
        <p:spPr>
          <a:xfrm>
            <a:off x="5669280" y="4270248"/>
            <a:ext cx="3200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print_board()  — Formatted output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577840" y="4535424"/>
            <a:ext cx="3383280" cy="246888"/>
          </a:xfrm>
          <a:prstGeom prst="roundRect">
            <a:avLst>
              <a:gd name="adj" fmla="val 18519"/>
            </a:avLst>
          </a:prstGeom>
          <a:solidFill>
            <a:srgbClr val="0F3460"/>
          </a:solidFill>
        </p:spPr>
      </p:sp>
      <p:sp>
        <p:nvSpPr>
          <p:cNvPr id="47" name="Text 44"/>
          <p:cNvSpPr/>
          <p:nvPr/>
        </p:nvSpPr>
        <p:spPr>
          <a:xfrm>
            <a:off x="5669280" y="4562856"/>
            <a:ext cx="32004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get_user_input()  — Input &amp; validate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/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136392" cy="3136392"/>
          </a:xfrm>
          <a:prstGeom prst="roundRect">
            <a:avLst>
              <a:gd name="adj" fmla="val 2332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2416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0744" y="109728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109728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109728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4056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2384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0744" y="143560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19072" y="143560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143560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95728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34056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72384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42416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80744" y="177393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177393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7400" y="177393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34056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34056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72384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04088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2416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80744" y="211226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19072" y="211226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19072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057400" y="211226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95728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34056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72384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72384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5760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04088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2416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80744" y="2450592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80744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719072" y="2450592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057400" y="2450592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57400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95728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34056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72384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72384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65760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04088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2416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80744" y="278892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19072" y="278892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19072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2057400" y="278892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95728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34056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72384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072384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65760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4088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4088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042416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380744" y="312724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19072" y="312724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057400" y="312724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95728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2734056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34056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072384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760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4088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42416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380744" y="346557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380744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1719072" y="346557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19072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057400" y="346557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057400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2395728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34056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072384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72384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365760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4088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42416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380744" y="380390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719072" y="380390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719072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2057400" y="380390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95728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734056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734056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3072384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072384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365760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65760" y="1097280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380744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65760" y="2112264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395728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65760" y="3127248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410712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65760" y="4142232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65760" y="420624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Input Board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3566160" y="24688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94560"/>
                </a:solidFill>
              </a:rPr>
              <a:t>→</a:t>
            </a:r>
            <a:endParaRPr lang="en-US" sz="3600" dirty="0"/>
          </a:p>
        </p:txBody>
      </p:sp>
      <p:sp>
        <p:nvSpPr>
          <p:cNvPr id="126" name="Text 124"/>
          <p:cNvSpPr/>
          <p:nvPr/>
        </p:nvSpPr>
        <p:spPr>
          <a:xfrm>
            <a:off x="3493008" y="29260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Solved!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251960" y="1051560"/>
            <a:ext cx="3136392" cy="3136392"/>
          </a:xfrm>
          <a:prstGeom prst="roundRect">
            <a:avLst>
              <a:gd name="adj" fmla="val 2332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4297680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297680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4636008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636008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4974336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974336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5312664" y="109728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312664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6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5650992" y="109728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650992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5989320" y="109728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989320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8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6327648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327648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9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6665976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1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7004304" y="109728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004304" y="109728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4297680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297680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4636008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636008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7</a:t>
            </a:r>
            <a:endParaRPr lang="en-US" sz="1200" dirty="0"/>
          </a:p>
        </p:txBody>
      </p:sp>
      <p:sp>
        <p:nvSpPr>
          <p:cNvPr id="150" name="Shape 148"/>
          <p:cNvSpPr/>
          <p:nvPr/>
        </p:nvSpPr>
        <p:spPr>
          <a:xfrm>
            <a:off x="4974336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974336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5312664" y="143560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312664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5650992" y="143560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650992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5989320" y="143560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989320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327648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327648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3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6665976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665976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7004304" y="143560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004304" y="143560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8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4297680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97680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1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4636008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636008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4974336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974336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5312664" y="177393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312664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3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5650992" y="177393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650992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174" name="Shape 172"/>
          <p:cNvSpPr/>
          <p:nvPr/>
        </p:nvSpPr>
        <p:spPr>
          <a:xfrm>
            <a:off x="5989320" y="177393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989320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6327648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327648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5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6665976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665976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7004304" y="177393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004304" y="177393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7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4297680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297680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4636008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636008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5</a:t>
            </a:r>
            <a:endParaRPr lang="en-US" sz="1200" dirty="0"/>
          </a:p>
        </p:txBody>
      </p:sp>
      <p:sp>
        <p:nvSpPr>
          <p:cNvPr id="186" name="Shape 184"/>
          <p:cNvSpPr/>
          <p:nvPr/>
        </p:nvSpPr>
        <p:spPr>
          <a:xfrm>
            <a:off x="4974336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974336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9</a:t>
            </a:r>
            <a:endParaRPr lang="en-US" sz="1200" dirty="0"/>
          </a:p>
        </p:txBody>
      </p:sp>
      <p:sp>
        <p:nvSpPr>
          <p:cNvPr id="188" name="Shape 186"/>
          <p:cNvSpPr/>
          <p:nvPr/>
        </p:nvSpPr>
        <p:spPr>
          <a:xfrm>
            <a:off x="5312664" y="211226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312664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7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5650992" y="211226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650992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5989320" y="211226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989320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1</a:t>
            </a:r>
            <a:endParaRPr lang="en-US" sz="1200" dirty="0"/>
          </a:p>
        </p:txBody>
      </p:sp>
      <p:sp>
        <p:nvSpPr>
          <p:cNvPr id="194" name="Shape 192"/>
          <p:cNvSpPr/>
          <p:nvPr/>
        </p:nvSpPr>
        <p:spPr>
          <a:xfrm>
            <a:off x="6327648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327648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196" name="Shape 194"/>
          <p:cNvSpPr/>
          <p:nvPr/>
        </p:nvSpPr>
        <p:spPr>
          <a:xfrm>
            <a:off x="6665976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65976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198" name="Shape 196"/>
          <p:cNvSpPr/>
          <p:nvPr/>
        </p:nvSpPr>
        <p:spPr>
          <a:xfrm>
            <a:off x="7004304" y="211226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004304" y="211226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0" name="Shape 198"/>
          <p:cNvSpPr/>
          <p:nvPr/>
        </p:nvSpPr>
        <p:spPr>
          <a:xfrm>
            <a:off x="4297680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297680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2" name="Shape 200"/>
          <p:cNvSpPr/>
          <p:nvPr/>
        </p:nvSpPr>
        <p:spPr>
          <a:xfrm>
            <a:off x="4636008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636008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4974336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974336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6</a:t>
            </a:r>
            <a:endParaRPr lang="en-US" sz="1200" dirty="0"/>
          </a:p>
        </p:txBody>
      </p:sp>
      <p:sp>
        <p:nvSpPr>
          <p:cNvPr id="206" name="Shape 204"/>
          <p:cNvSpPr/>
          <p:nvPr/>
        </p:nvSpPr>
        <p:spPr>
          <a:xfrm>
            <a:off x="5312664" y="2450592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312664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5650992" y="2450592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650992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5</a:t>
            </a:r>
            <a:endParaRPr lang="en-US" sz="1200" dirty="0"/>
          </a:p>
        </p:txBody>
      </p:sp>
      <p:sp>
        <p:nvSpPr>
          <p:cNvPr id="210" name="Shape 208"/>
          <p:cNvSpPr/>
          <p:nvPr/>
        </p:nvSpPr>
        <p:spPr>
          <a:xfrm>
            <a:off x="5989320" y="2450592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989320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2" name="Shape 210"/>
          <p:cNvSpPr/>
          <p:nvPr/>
        </p:nvSpPr>
        <p:spPr>
          <a:xfrm>
            <a:off x="6327648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327648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7</a:t>
            </a:r>
            <a:endParaRPr lang="en-US" sz="1200" dirty="0"/>
          </a:p>
        </p:txBody>
      </p:sp>
      <p:sp>
        <p:nvSpPr>
          <p:cNvPr id="214" name="Shape 212"/>
          <p:cNvSpPr/>
          <p:nvPr/>
        </p:nvSpPr>
        <p:spPr>
          <a:xfrm>
            <a:off x="6665976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665976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9</a:t>
            </a:r>
            <a:endParaRPr lang="en-US" sz="1200" dirty="0"/>
          </a:p>
        </p:txBody>
      </p:sp>
      <p:sp>
        <p:nvSpPr>
          <p:cNvPr id="216" name="Shape 214"/>
          <p:cNvSpPr/>
          <p:nvPr/>
        </p:nvSpPr>
        <p:spPr>
          <a:xfrm>
            <a:off x="7004304" y="2450592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004304" y="2450592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8" name="Shape 216"/>
          <p:cNvSpPr/>
          <p:nvPr/>
        </p:nvSpPr>
        <p:spPr>
          <a:xfrm>
            <a:off x="4297680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297680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20" name="Shape 218"/>
          <p:cNvSpPr/>
          <p:nvPr/>
        </p:nvSpPr>
        <p:spPr>
          <a:xfrm>
            <a:off x="4636008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636008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1</a:t>
            </a:r>
            <a:endParaRPr lang="en-US" sz="1200" dirty="0"/>
          </a:p>
        </p:txBody>
      </p:sp>
      <p:sp>
        <p:nvSpPr>
          <p:cNvPr id="222" name="Shape 220"/>
          <p:cNvSpPr/>
          <p:nvPr/>
        </p:nvSpPr>
        <p:spPr>
          <a:xfrm>
            <a:off x="4974336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974336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3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5312664" y="278892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312664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9</a:t>
            </a:r>
            <a:endParaRPr lang="en-US" sz="1200" dirty="0"/>
          </a:p>
        </p:txBody>
      </p:sp>
      <p:sp>
        <p:nvSpPr>
          <p:cNvPr id="226" name="Shape 224"/>
          <p:cNvSpPr/>
          <p:nvPr/>
        </p:nvSpPr>
        <p:spPr>
          <a:xfrm>
            <a:off x="5650992" y="278892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650992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5989320" y="2788920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5989320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230" name="Shape 228"/>
          <p:cNvSpPr/>
          <p:nvPr/>
        </p:nvSpPr>
        <p:spPr>
          <a:xfrm>
            <a:off x="6327648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327648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8</a:t>
            </a:r>
            <a:endParaRPr lang="en-US" sz="1200" dirty="0"/>
          </a:p>
        </p:txBody>
      </p:sp>
      <p:sp>
        <p:nvSpPr>
          <p:cNvPr id="232" name="Shape 230"/>
          <p:cNvSpPr/>
          <p:nvPr/>
        </p:nvSpPr>
        <p:spPr>
          <a:xfrm>
            <a:off x="6665976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665976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5</a:t>
            </a:r>
            <a:endParaRPr lang="en-US" sz="1200" dirty="0"/>
          </a:p>
        </p:txBody>
      </p:sp>
      <p:sp>
        <p:nvSpPr>
          <p:cNvPr id="234" name="Shape 232"/>
          <p:cNvSpPr/>
          <p:nvPr/>
        </p:nvSpPr>
        <p:spPr>
          <a:xfrm>
            <a:off x="7004304" y="2788920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7004304" y="2788920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6" name="Shape 234"/>
          <p:cNvSpPr/>
          <p:nvPr/>
        </p:nvSpPr>
        <p:spPr>
          <a:xfrm>
            <a:off x="4297680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297680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9</a:t>
            </a:r>
            <a:endParaRPr lang="en-US" sz="1200" dirty="0"/>
          </a:p>
        </p:txBody>
      </p:sp>
      <p:sp>
        <p:nvSpPr>
          <p:cNvPr id="238" name="Shape 236"/>
          <p:cNvSpPr/>
          <p:nvPr/>
        </p:nvSpPr>
        <p:spPr>
          <a:xfrm>
            <a:off x="4636008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4636008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0" name="Shape 238"/>
          <p:cNvSpPr/>
          <p:nvPr/>
        </p:nvSpPr>
        <p:spPr>
          <a:xfrm>
            <a:off x="4974336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974336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1</a:t>
            </a:r>
            <a:endParaRPr lang="en-US" sz="1200" dirty="0"/>
          </a:p>
        </p:txBody>
      </p:sp>
      <p:sp>
        <p:nvSpPr>
          <p:cNvPr id="242" name="Shape 240"/>
          <p:cNvSpPr/>
          <p:nvPr/>
        </p:nvSpPr>
        <p:spPr>
          <a:xfrm>
            <a:off x="5312664" y="312724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5312664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5</a:t>
            </a:r>
            <a:endParaRPr lang="en-US" sz="1200" dirty="0"/>
          </a:p>
        </p:txBody>
      </p:sp>
      <p:sp>
        <p:nvSpPr>
          <p:cNvPr id="244" name="Shape 242"/>
          <p:cNvSpPr/>
          <p:nvPr/>
        </p:nvSpPr>
        <p:spPr>
          <a:xfrm>
            <a:off x="5650992" y="312724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650992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3</a:t>
            </a:r>
            <a:endParaRPr lang="en-US" sz="1200" dirty="0"/>
          </a:p>
        </p:txBody>
      </p:sp>
      <p:sp>
        <p:nvSpPr>
          <p:cNvPr id="246" name="Shape 244"/>
          <p:cNvSpPr/>
          <p:nvPr/>
        </p:nvSpPr>
        <p:spPr>
          <a:xfrm>
            <a:off x="5989320" y="3127248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989320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7</a:t>
            </a:r>
            <a:endParaRPr lang="en-US" sz="1200" dirty="0"/>
          </a:p>
        </p:txBody>
      </p:sp>
      <p:sp>
        <p:nvSpPr>
          <p:cNvPr id="248" name="Shape 246"/>
          <p:cNvSpPr/>
          <p:nvPr/>
        </p:nvSpPr>
        <p:spPr>
          <a:xfrm>
            <a:off x="6327648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327648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0" name="Shape 248"/>
          <p:cNvSpPr/>
          <p:nvPr/>
        </p:nvSpPr>
        <p:spPr>
          <a:xfrm>
            <a:off x="6665976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6665976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52" name="Shape 250"/>
          <p:cNvSpPr/>
          <p:nvPr/>
        </p:nvSpPr>
        <p:spPr>
          <a:xfrm>
            <a:off x="7004304" y="3127248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004304" y="3127248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254" name="Shape 252"/>
          <p:cNvSpPr/>
          <p:nvPr/>
        </p:nvSpPr>
        <p:spPr>
          <a:xfrm>
            <a:off x="4297680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4297680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256" name="Shape 254"/>
          <p:cNvSpPr/>
          <p:nvPr/>
        </p:nvSpPr>
        <p:spPr>
          <a:xfrm>
            <a:off x="4636008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636008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8</a:t>
            </a:r>
            <a:endParaRPr lang="en-US" sz="1200" dirty="0"/>
          </a:p>
        </p:txBody>
      </p:sp>
      <p:sp>
        <p:nvSpPr>
          <p:cNvPr id="258" name="Shape 256"/>
          <p:cNvSpPr/>
          <p:nvPr/>
        </p:nvSpPr>
        <p:spPr>
          <a:xfrm>
            <a:off x="4974336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974336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7</a:t>
            </a:r>
            <a:endParaRPr lang="en-US" sz="1200" dirty="0"/>
          </a:p>
        </p:txBody>
      </p:sp>
      <p:sp>
        <p:nvSpPr>
          <p:cNvPr id="260" name="Shape 258"/>
          <p:cNvSpPr/>
          <p:nvPr/>
        </p:nvSpPr>
        <p:spPr>
          <a:xfrm>
            <a:off x="5312664" y="346557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5312664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2" name="Shape 260"/>
          <p:cNvSpPr/>
          <p:nvPr/>
        </p:nvSpPr>
        <p:spPr>
          <a:xfrm>
            <a:off x="5650992" y="346557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5650992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64" name="Shape 262"/>
          <p:cNvSpPr/>
          <p:nvPr/>
        </p:nvSpPr>
        <p:spPr>
          <a:xfrm>
            <a:off x="5989320" y="3465576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5989320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66" name="Shape 264"/>
          <p:cNvSpPr/>
          <p:nvPr/>
        </p:nvSpPr>
        <p:spPr>
          <a:xfrm>
            <a:off x="6327648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327648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6</a:t>
            </a:r>
            <a:endParaRPr lang="en-US" sz="1200" dirty="0"/>
          </a:p>
        </p:txBody>
      </p:sp>
      <p:sp>
        <p:nvSpPr>
          <p:cNvPr id="268" name="Shape 266"/>
          <p:cNvSpPr/>
          <p:nvPr/>
        </p:nvSpPr>
        <p:spPr>
          <a:xfrm>
            <a:off x="6665976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665976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3</a:t>
            </a:r>
            <a:endParaRPr lang="en-US" sz="1200" dirty="0"/>
          </a:p>
        </p:txBody>
      </p:sp>
      <p:sp>
        <p:nvSpPr>
          <p:cNvPr id="270" name="Shape 268"/>
          <p:cNvSpPr/>
          <p:nvPr/>
        </p:nvSpPr>
        <p:spPr>
          <a:xfrm>
            <a:off x="7004304" y="3465576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7004304" y="346557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2" name="Shape 270"/>
          <p:cNvSpPr/>
          <p:nvPr/>
        </p:nvSpPr>
        <p:spPr>
          <a:xfrm>
            <a:off x="4297680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297680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3</a:t>
            </a:r>
            <a:endParaRPr lang="en-US" sz="1200" dirty="0"/>
          </a:p>
        </p:txBody>
      </p:sp>
      <p:sp>
        <p:nvSpPr>
          <p:cNvPr id="274" name="Shape 272"/>
          <p:cNvSpPr/>
          <p:nvPr/>
        </p:nvSpPr>
        <p:spPr>
          <a:xfrm>
            <a:off x="4636008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4636008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4</a:t>
            </a:r>
            <a:endParaRPr lang="en-US" sz="1200" dirty="0"/>
          </a:p>
        </p:txBody>
      </p:sp>
      <p:sp>
        <p:nvSpPr>
          <p:cNvPr id="276" name="Shape 274"/>
          <p:cNvSpPr/>
          <p:nvPr/>
        </p:nvSpPr>
        <p:spPr>
          <a:xfrm>
            <a:off x="4974336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4974336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5</a:t>
            </a:r>
            <a:endParaRPr lang="en-US" sz="1200" dirty="0"/>
          </a:p>
        </p:txBody>
      </p:sp>
      <p:sp>
        <p:nvSpPr>
          <p:cNvPr id="278" name="Shape 276"/>
          <p:cNvSpPr/>
          <p:nvPr/>
        </p:nvSpPr>
        <p:spPr>
          <a:xfrm>
            <a:off x="5312664" y="380390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5312664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2</a:t>
            </a:r>
            <a:endParaRPr lang="en-US" sz="1200" dirty="0"/>
          </a:p>
        </p:txBody>
      </p:sp>
      <p:sp>
        <p:nvSpPr>
          <p:cNvPr id="280" name="Shape 278"/>
          <p:cNvSpPr/>
          <p:nvPr/>
        </p:nvSpPr>
        <p:spPr>
          <a:xfrm>
            <a:off x="5650992" y="380390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5650992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82" name="Shape 280"/>
          <p:cNvSpPr/>
          <p:nvPr/>
        </p:nvSpPr>
        <p:spPr>
          <a:xfrm>
            <a:off x="5989320" y="3803904"/>
            <a:ext cx="338328" cy="338328"/>
          </a:xfrm>
          <a:prstGeom prst="rect">
            <a:avLst/>
          </a:prstGeom>
          <a:solidFill>
            <a:srgbClr val="162038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5989320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6</a:t>
            </a:r>
            <a:endParaRPr lang="en-US" sz="1200" dirty="0"/>
          </a:p>
        </p:txBody>
      </p:sp>
      <p:sp>
        <p:nvSpPr>
          <p:cNvPr id="284" name="Shape 282"/>
          <p:cNvSpPr/>
          <p:nvPr/>
        </p:nvSpPr>
        <p:spPr>
          <a:xfrm>
            <a:off x="6327648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6327648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</a:rPr>
              <a:t>1</a:t>
            </a:r>
            <a:endParaRPr lang="en-US" sz="1200" dirty="0"/>
          </a:p>
        </p:txBody>
      </p:sp>
      <p:sp>
        <p:nvSpPr>
          <p:cNvPr id="286" name="Shape 284"/>
          <p:cNvSpPr/>
          <p:nvPr/>
        </p:nvSpPr>
        <p:spPr>
          <a:xfrm>
            <a:off x="6665976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6665976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88" name="Shape 286"/>
          <p:cNvSpPr/>
          <p:nvPr/>
        </p:nvSpPr>
        <p:spPr>
          <a:xfrm>
            <a:off x="7004304" y="3803904"/>
            <a:ext cx="338328" cy="338328"/>
          </a:xfrm>
          <a:prstGeom prst="rect">
            <a:avLst/>
          </a:prstGeom>
          <a:solidFill>
            <a:srgbClr val="1A2A4A"/>
          </a:solidFill>
          <a:ln w="6350">
            <a:solidFill>
              <a:srgbClr val="2A3A5E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7004304" y="3803904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90" name="Shape 288"/>
          <p:cNvSpPr/>
          <p:nvPr/>
        </p:nvSpPr>
        <p:spPr>
          <a:xfrm>
            <a:off x="4297680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297680" y="1097280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312664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297680" y="2112264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6327648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297680" y="3127248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342632" y="1097280"/>
            <a:ext cx="0" cy="3044952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297680" y="4142232"/>
            <a:ext cx="304495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4297680" y="420624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Solved Board  (green = filled)</a:t>
            </a:r>
            <a:endParaRPr lang="en-US" sz="1400" dirty="0"/>
          </a:p>
        </p:txBody>
      </p:sp>
      <p:sp>
        <p:nvSpPr>
          <p:cNvPr id="299" name="Shape 297"/>
          <p:cNvSpPr/>
          <p:nvPr/>
        </p:nvSpPr>
        <p:spPr>
          <a:xfrm>
            <a:off x="274320" y="44805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0" name="Text 298"/>
          <p:cNvSpPr/>
          <p:nvPr/>
        </p:nvSpPr>
        <p:spPr>
          <a:xfrm>
            <a:off x="320040" y="4507992"/>
            <a:ext cx="19202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User Input</a:t>
            </a:r>
            <a:endParaRPr lang="en-US" sz="1100" dirty="0"/>
          </a:p>
        </p:txBody>
      </p:sp>
      <p:sp>
        <p:nvSpPr>
          <p:cNvPr id="301" name="Shape 299"/>
          <p:cNvSpPr/>
          <p:nvPr/>
        </p:nvSpPr>
        <p:spPr>
          <a:xfrm>
            <a:off x="2450592" y="44805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2" name="Text 300"/>
          <p:cNvSpPr/>
          <p:nvPr/>
        </p:nvSpPr>
        <p:spPr>
          <a:xfrm>
            <a:off x="2496312" y="4507992"/>
            <a:ext cx="19202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Validation</a:t>
            </a:r>
            <a:endParaRPr lang="en-US" sz="1100" dirty="0"/>
          </a:p>
        </p:txBody>
      </p:sp>
      <p:sp>
        <p:nvSpPr>
          <p:cNvPr id="303" name="Shape 301"/>
          <p:cNvSpPr/>
          <p:nvPr/>
        </p:nvSpPr>
        <p:spPr>
          <a:xfrm>
            <a:off x="4626864" y="44805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4" name="Text 302"/>
          <p:cNvSpPr/>
          <p:nvPr/>
        </p:nvSpPr>
        <p:spPr>
          <a:xfrm>
            <a:off x="4672584" y="4507992"/>
            <a:ext cx="19202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No-Solution Handling</a:t>
            </a:r>
            <a:endParaRPr lang="en-US" sz="1100" dirty="0"/>
          </a:p>
        </p:txBody>
      </p:sp>
      <p:sp>
        <p:nvSpPr>
          <p:cNvPr id="305" name="Shape 303"/>
          <p:cNvSpPr/>
          <p:nvPr/>
        </p:nvSpPr>
        <p:spPr>
          <a:xfrm>
            <a:off x="6803136" y="44805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6" name="Text 304"/>
          <p:cNvSpPr/>
          <p:nvPr/>
        </p:nvSpPr>
        <p:spPr>
          <a:xfrm>
            <a:off x="6848856" y="4507992"/>
            <a:ext cx="192024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Clean Display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3460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Algorithm Mastery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Demonstrated effective use of Backtracking and Recursion to solve a real-world constraint satisfaction problem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4300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18745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Proficiency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83280" y="23317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well-commented Python code with modular functions, input validation, and graceful error handling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10058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F3460"/>
          </a:solidFill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4300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18745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Practical Application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09360" y="23317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functional interactive solver — any valid 9×9 Sudoku puzzle is accepted and solved automatically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65760" y="427939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References: CLRS (Algorithms) · Python Docs · GeeksforGeeks · Wikipedia (Sudoku algorithms)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Artificial Intelligence &amp; Machine Learning  ·  CRT Mini Project  ·  2027 Batch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1949</Words>
  <Application>WPS Presentation</Application>
  <PresentationFormat>On-screen Show (16:9)</PresentationFormat>
  <Paragraphs>419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Sudoku Solver using Recursion &amp; Backtracking</dc:title>
  <dc:creator>PptxGenJS</dc:creator>
  <dc:subject>PptxGenJS Presentation</dc:subject>
  <cp:lastModifiedBy>Uday Kiran</cp:lastModifiedBy>
  <cp:revision>4</cp:revision>
  <dcterms:created xsi:type="dcterms:W3CDTF">2026-06-16T08:47:00Z</dcterms:created>
  <dcterms:modified xsi:type="dcterms:W3CDTF">2026-06-16T13:24:23Z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2353CB1F38F24141AD03A834AE726B48_12</vt:lpwstr>
  </property>
  <property fmtid="{D5CDD505-2E9C-101B-9397-08002B2CF9AE}" pid="3" name="KSOProductBuildVer">
    <vt:lpwstr>2057-12.2.0.23202</vt:lpwstr>
  </property>
</Properties>
</file>